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grandir Bold" charset="1" panose="00000800000000000000"/>
      <p:regular r:id="rId19"/>
    </p:embeddedFon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://ers.daiict.ac.in:8090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3938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028700" y="9244012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789441"/>
            <a:ext cx="9469747" cy="238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7"/>
              </a:lnSpc>
            </a:pPr>
            <a:r>
              <a:rPr lang="en-US" sz="7155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PC406/PC407 </a:t>
            </a:r>
          </a:p>
          <a:p>
            <a:pPr algn="l">
              <a:lnSpc>
                <a:spcPts val="8587"/>
              </a:lnSpc>
            </a:pPr>
            <a:r>
              <a:rPr lang="en-US" sz="7155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BTech Mini Project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910734" y="1516878"/>
            <a:ext cx="5348566" cy="4098339"/>
          </a:xfrm>
          <a:custGeom>
            <a:avLst/>
            <a:gdLst/>
            <a:ahLst/>
            <a:cxnLst/>
            <a:rect r="r" b="b" t="t" l="l"/>
            <a:pathLst>
              <a:path h="4098339" w="5348566">
                <a:moveTo>
                  <a:pt x="0" y="0"/>
                </a:moveTo>
                <a:lnTo>
                  <a:pt x="5348566" y="0"/>
                </a:lnTo>
                <a:lnTo>
                  <a:pt x="5348566" y="4098338"/>
                </a:lnTo>
                <a:lnTo>
                  <a:pt x="0" y="4098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5885656"/>
            <a:ext cx="6230880" cy="1914000"/>
            <a:chOff x="0" y="0"/>
            <a:chExt cx="8307840" cy="25520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8307840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Group Members 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79366"/>
              <a:ext cx="8307840" cy="10989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23557" indent="-261778" lvl="1">
                <a:lnSpc>
                  <a:spcPts val="3394"/>
                </a:lnSpc>
                <a:buAutoNum type="arabicPeriod" startAt="1"/>
              </a:pPr>
              <a:r>
                <a:rPr lang="en-US" sz="242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Parth Vadodaria - 202201174 (ICT)</a:t>
              </a:r>
            </a:p>
            <a:p>
              <a:pPr algn="l" marL="523557" indent="-261778" lvl="1">
                <a:lnSpc>
                  <a:spcPts val="3394"/>
                </a:lnSpc>
                <a:buAutoNum type="arabicPeriod" startAt="1"/>
              </a:pPr>
              <a:r>
                <a:rPr lang="en-US" sz="242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Hitanshu Variya - 202201510 (ICT + CS)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8218756"/>
            <a:ext cx="1246176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Under the guidance of </a:t>
            </a:r>
            <a:r>
              <a:rPr lang="en-US" b="true" sz="35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Prof. Abhishek Gupta</a:t>
            </a: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&amp; </a:t>
            </a:r>
            <a:r>
              <a:rPr lang="en-US" b="true" sz="35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Prof. PM Jat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98447" y="8218756"/>
            <a:ext cx="7789553" cy="40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578350"/>
            <a:ext cx="7273675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Title: Elective Registration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3938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028700" y="9244012"/>
            <a:ext cx="15457771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58581"/>
            <a:ext cx="3318516" cy="874882"/>
          </a:xfrm>
          <a:custGeom>
            <a:avLst/>
            <a:gdLst/>
            <a:ahLst/>
            <a:cxnLst/>
            <a:rect r="r" b="b" t="t" l="l"/>
            <a:pathLst>
              <a:path h="874882" w="3318516">
                <a:moveTo>
                  <a:pt x="0" y="0"/>
                </a:moveTo>
                <a:lnTo>
                  <a:pt x="3318516" y="0"/>
                </a:lnTo>
                <a:lnTo>
                  <a:pt x="3318516" y="874881"/>
                </a:lnTo>
                <a:lnTo>
                  <a:pt x="0" y="87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95433" y="0"/>
            <a:ext cx="9815450" cy="9471909"/>
          </a:xfrm>
          <a:custGeom>
            <a:avLst/>
            <a:gdLst/>
            <a:ahLst/>
            <a:cxnLst/>
            <a:rect r="r" b="b" t="t" l="l"/>
            <a:pathLst>
              <a:path h="9471909" w="9815450">
                <a:moveTo>
                  <a:pt x="0" y="0"/>
                </a:moveTo>
                <a:lnTo>
                  <a:pt x="9815450" y="0"/>
                </a:lnTo>
                <a:lnTo>
                  <a:pt x="9815450" y="9471909"/>
                </a:lnTo>
                <a:lnTo>
                  <a:pt x="0" y="94719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722547"/>
            <a:ext cx="14442237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549954"/>
            <a:ext cx="13452072" cy="99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6"/>
              </a:lnSpc>
            </a:pPr>
            <a:r>
              <a:rPr lang="en-US" sz="587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33782" y="8963025"/>
            <a:ext cx="5255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3938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028700" y="9244012"/>
            <a:ext cx="15292849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58581"/>
            <a:ext cx="3318516" cy="874882"/>
          </a:xfrm>
          <a:custGeom>
            <a:avLst/>
            <a:gdLst/>
            <a:ahLst/>
            <a:cxnLst/>
            <a:rect r="r" b="b" t="t" l="l"/>
            <a:pathLst>
              <a:path h="874882" w="3318516">
                <a:moveTo>
                  <a:pt x="0" y="0"/>
                </a:moveTo>
                <a:lnTo>
                  <a:pt x="3318516" y="0"/>
                </a:lnTo>
                <a:lnTo>
                  <a:pt x="3318516" y="874881"/>
                </a:lnTo>
                <a:lnTo>
                  <a:pt x="0" y="87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59887" y="2679509"/>
            <a:ext cx="11301259" cy="6102680"/>
          </a:xfrm>
          <a:custGeom>
            <a:avLst/>
            <a:gdLst/>
            <a:ahLst/>
            <a:cxnLst/>
            <a:rect r="r" b="b" t="t" l="l"/>
            <a:pathLst>
              <a:path h="6102680" w="11301259">
                <a:moveTo>
                  <a:pt x="0" y="0"/>
                </a:moveTo>
                <a:lnTo>
                  <a:pt x="11301259" y="0"/>
                </a:lnTo>
                <a:lnTo>
                  <a:pt x="11301259" y="6102679"/>
                </a:lnTo>
                <a:lnTo>
                  <a:pt x="0" y="61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33782" y="8963025"/>
            <a:ext cx="5255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71020" y="1365648"/>
            <a:ext cx="5078993" cy="114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2"/>
              </a:lnSpc>
            </a:pPr>
            <a:r>
              <a:rPr lang="en-US" sz="665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Tech Stack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3938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8700" y="9697413"/>
            <a:ext cx="15292849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58581"/>
            <a:ext cx="3318516" cy="874882"/>
          </a:xfrm>
          <a:custGeom>
            <a:avLst/>
            <a:gdLst/>
            <a:ahLst/>
            <a:cxnLst/>
            <a:rect r="r" b="b" t="t" l="l"/>
            <a:pathLst>
              <a:path h="874882" w="3318516">
                <a:moveTo>
                  <a:pt x="0" y="0"/>
                </a:moveTo>
                <a:lnTo>
                  <a:pt x="3318516" y="0"/>
                </a:lnTo>
                <a:lnTo>
                  <a:pt x="3318516" y="874881"/>
                </a:lnTo>
                <a:lnTo>
                  <a:pt x="0" y="87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33202" y="2214587"/>
            <a:ext cx="7226098" cy="7036413"/>
          </a:xfrm>
          <a:custGeom>
            <a:avLst/>
            <a:gdLst/>
            <a:ahLst/>
            <a:cxnLst/>
            <a:rect r="r" b="b" t="t" l="l"/>
            <a:pathLst>
              <a:path h="7036413" w="7226098">
                <a:moveTo>
                  <a:pt x="0" y="0"/>
                </a:moveTo>
                <a:lnTo>
                  <a:pt x="7226098" y="0"/>
                </a:lnTo>
                <a:lnTo>
                  <a:pt x="7226098" y="7036413"/>
                </a:lnTo>
                <a:lnTo>
                  <a:pt x="0" y="7036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6153" y="2226582"/>
            <a:ext cx="9005664" cy="7024418"/>
          </a:xfrm>
          <a:custGeom>
            <a:avLst/>
            <a:gdLst/>
            <a:ahLst/>
            <a:cxnLst/>
            <a:rect r="r" b="b" t="t" l="l"/>
            <a:pathLst>
              <a:path h="7024418" w="9005664">
                <a:moveTo>
                  <a:pt x="0" y="0"/>
                </a:moveTo>
                <a:lnTo>
                  <a:pt x="9005664" y="0"/>
                </a:lnTo>
                <a:lnTo>
                  <a:pt x="9005664" y="7024418"/>
                </a:lnTo>
                <a:lnTo>
                  <a:pt x="0" y="70244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733782" y="9411663"/>
            <a:ext cx="5255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77167" y="1307218"/>
            <a:ext cx="3938167" cy="576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339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Upload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73726" y="1307218"/>
            <a:ext cx="3938167" cy="576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339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Admin Dashboard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3938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8700" y="9486900"/>
            <a:ext cx="15292849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58581"/>
            <a:ext cx="3318516" cy="874882"/>
          </a:xfrm>
          <a:custGeom>
            <a:avLst/>
            <a:gdLst/>
            <a:ahLst/>
            <a:cxnLst/>
            <a:rect r="r" b="b" t="t" l="l"/>
            <a:pathLst>
              <a:path h="874882" w="3318516">
                <a:moveTo>
                  <a:pt x="0" y="0"/>
                </a:moveTo>
                <a:lnTo>
                  <a:pt x="3318516" y="0"/>
                </a:lnTo>
                <a:lnTo>
                  <a:pt x="3318516" y="874881"/>
                </a:lnTo>
                <a:lnTo>
                  <a:pt x="0" y="87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1841" y="2795163"/>
            <a:ext cx="8972323" cy="5787148"/>
          </a:xfrm>
          <a:custGeom>
            <a:avLst/>
            <a:gdLst/>
            <a:ahLst/>
            <a:cxnLst/>
            <a:rect r="r" b="b" t="t" l="l"/>
            <a:pathLst>
              <a:path h="5787148" w="8972323">
                <a:moveTo>
                  <a:pt x="0" y="0"/>
                </a:moveTo>
                <a:lnTo>
                  <a:pt x="8972323" y="0"/>
                </a:lnTo>
                <a:lnTo>
                  <a:pt x="8972323" y="5787148"/>
                </a:lnTo>
                <a:lnTo>
                  <a:pt x="0" y="5787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66188" y="2510258"/>
            <a:ext cx="5967594" cy="6356958"/>
          </a:xfrm>
          <a:custGeom>
            <a:avLst/>
            <a:gdLst/>
            <a:ahLst/>
            <a:cxnLst/>
            <a:rect r="r" b="b" t="t" l="l"/>
            <a:pathLst>
              <a:path h="6356958" w="5967594">
                <a:moveTo>
                  <a:pt x="0" y="0"/>
                </a:moveTo>
                <a:lnTo>
                  <a:pt x="5967594" y="0"/>
                </a:lnTo>
                <a:lnTo>
                  <a:pt x="596759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733782" y="9201150"/>
            <a:ext cx="5255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87958" y="1455053"/>
            <a:ext cx="3938167" cy="576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339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Run Allocation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58695" y="1455053"/>
            <a:ext cx="4538705" cy="576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339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Download Reports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3938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8700" y="9629273"/>
            <a:ext cx="15292849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58581"/>
            <a:ext cx="3318516" cy="874882"/>
          </a:xfrm>
          <a:custGeom>
            <a:avLst/>
            <a:gdLst/>
            <a:ahLst/>
            <a:cxnLst/>
            <a:rect r="r" b="b" t="t" l="l"/>
            <a:pathLst>
              <a:path h="874882" w="3318516">
                <a:moveTo>
                  <a:pt x="0" y="0"/>
                </a:moveTo>
                <a:lnTo>
                  <a:pt x="3318516" y="0"/>
                </a:lnTo>
                <a:lnTo>
                  <a:pt x="3318516" y="874881"/>
                </a:lnTo>
                <a:lnTo>
                  <a:pt x="0" y="87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20055" y="2541797"/>
            <a:ext cx="11757555" cy="6716503"/>
          </a:xfrm>
          <a:custGeom>
            <a:avLst/>
            <a:gdLst/>
            <a:ahLst/>
            <a:cxnLst/>
            <a:rect r="r" b="b" t="t" l="l"/>
            <a:pathLst>
              <a:path h="6716503" w="11757555">
                <a:moveTo>
                  <a:pt x="0" y="0"/>
                </a:moveTo>
                <a:lnTo>
                  <a:pt x="11757555" y="0"/>
                </a:lnTo>
                <a:lnTo>
                  <a:pt x="11757555" y="6716503"/>
                </a:lnTo>
                <a:lnTo>
                  <a:pt x="0" y="67165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56251" y="1555871"/>
            <a:ext cx="6375497" cy="85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5"/>
              </a:lnSpc>
            </a:pPr>
            <a:r>
              <a:rPr lang="en-US" sz="5004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Student 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33782" y="9343523"/>
            <a:ext cx="5255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3938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58581"/>
            <a:ext cx="3318516" cy="874882"/>
          </a:xfrm>
          <a:custGeom>
            <a:avLst/>
            <a:gdLst/>
            <a:ahLst/>
            <a:cxnLst/>
            <a:rect r="r" b="b" t="t" l="l"/>
            <a:pathLst>
              <a:path h="874882" w="3318516">
                <a:moveTo>
                  <a:pt x="0" y="0"/>
                </a:moveTo>
                <a:lnTo>
                  <a:pt x="3318516" y="0"/>
                </a:lnTo>
                <a:lnTo>
                  <a:pt x="3318516" y="874881"/>
                </a:lnTo>
                <a:lnTo>
                  <a:pt x="0" y="87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87958" y="2511687"/>
            <a:ext cx="13212295" cy="7394578"/>
          </a:xfrm>
          <a:custGeom>
            <a:avLst/>
            <a:gdLst/>
            <a:ahLst/>
            <a:cxnLst/>
            <a:rect r="r" b="b" t="t" l="l"/>
            <a:pathLst>
              <a:path h="7394578" w="13212295">
                <a:moveTo>
                  <a:pt x="0" y="0"/>
                </a:moveTo>
                <a:lnTo>
                  <a:pt x="13212295" y="0"/>
                </a:lnTo>
                <a:lnTo>
                  <a:pt x="13212295" y="7394578"/>
                </a:lnTo>
                <a:lnTo>
                  <a:pt x="0" y="73945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44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733782" y="9201150"/>
            <a:ext cx="5255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05548" y="1365648"/>
            <a:ext cx="8512885" cy="114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2"/>
              </a:lnSpc>
            </a:pPr>
            <a:r>
              <a:rPr lang="en-US" sz="665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DataBase Schema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3938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58581"/>
            <a:ext cx="3318516" cy="874882"/>
          </a:xfrm>
          <a:custGeom>
            <a:avLst/>
            <a:gdLst/>
            <a:ahLst/>
            <a:cxnLst/>
            <a:rect r="r" b="b" t="t" l="l"/>
            <a:pathLst>
              <a:path h="874882" w="3318516">
                <a:moveTo>
                  <a:pt x="0" y="0"/>
                </a:moveTo>
                <a:lnTo>
                  <a:pt x="3318516" y="0"/>
                </a:lnTo>
                <a:lnTo>
                  <a:pt x="3318516" y="874881"/>
                </a:lnTo>
                <a:lnTo>
                  <a:pt x="0" y="87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534923" cy="10892380"/>
          </a:xfrm>
          <a:custGeom>
            <a:avLst/>
            <a:gdLst/>
            <a:ahLst/>
            <a:cxnLst/>
            <a:rect r="r" b="b" t="t" l="l"/>
            <a:pathLst>
              <a:path h="10892380" w="16534923">
                <a:moveTo>
                  <a:pt x="0" y="0"/>
                </a:moveTo>
                <a:lnTo>
                  <a:pt x="16534923" y="0"/>
                </a:lnTo>
                <a:lnTo>
                  <a:pt x="16534923" y="10892380"/>
                </a:lnTo>
                <a:lnTo>
                  <a:pt x="0" y="108923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733782" y="8963025"/>
            <a:ext cx="5255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2767" y="1332189"/>
            <a:ext cx="16230600" cy="77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9"/>
              </a:lnSpc>
            </a:pPr>
            <a:r>
              <a:rPr lang="en-US" sz="4554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User Testing Feedbacks (Among 7-10 peers)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3938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58581"/>
            <a:ext cx="3318516" cy="874882"/>
          </a:xfrm>
          <a:custGeom>
            <a:avLst/>
            <a:gdLst/>
            <a:ahLst/>
            <a:cxnLst/>
            <a:rect r="r" b="b" t="t" l="l"/>
            <a:pathLst>
              <a:path h="874882" w="3318516">
                <a:moveTo>
                  <a:pt x="0" y="0"/>
                </a:moveTo>
                <a:lnTo>
                  <a:pt x="3318516" y="0"/>
                </a:lnTo>
                <a:lnTo>
                  <a:pt x="3318516" y="874881"/>
                </a:lnTo>
                <a:lnTo>
                  <a:pt x="0" y="87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09264" y="1209441"/>
            <a:ext cx="11216409" cy="9253538"/>
          </a:xfrm>
          <a:custGeom>
            <a:avLst/>
            <a:gdLst/>
            <a:ahLst/>
            <a:cxnLst/>
            <a:rect r="r" b="b" t="t" l="l"/>
            <a:pathLst>
              <a:path h="9253538" w="11216409">
                <a:moveTo>
                  <a:pt x="0" y="0"/>
                </a:moveTo>
                <a:lnTo>
                  <a:pt x="11216409" y="0"/>
                </a:lnTo>
                <a:lnTo>
                  <a:pt x="11216409" y="9253537"/>
                </a:lnTo>
                <a:lnTo>
                  <a:pt x="0" y="92535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733782" y="8963025"/>
            <a:ext cx="5255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73079" y="1249954"/>
            <a:ext cx="8727881" cy="1146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2"/>
              </a:lnSpc>
            </a:pPr>
            <a:r>
              <a:rPr lang="en-US" sz="665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Challenges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3938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8700" y="9706486"/>
            <a:ext cx="15292849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58581"/>
            <a:ext cx="3318516" cy="874882"/>
          </a:xfrm>
          <a:custGeom>
            <a:avLst/>
            <a:gdLst/>
            <a:ahLst/>
            <a:cxnLst/>
            <a:rect r="r" b="b" t="t" l="l"/>
            <a:pathLst>
              <a:path h="874882" w="3318516">
                <a:moveTo>
                  <a:pt x="0" y="0"/>
                </a:moveTo>
                <a:lnTo>
                  <a:pt x="3318516" y="0"/>
                </a:lnTo>
                <a:lnTo>
                  <a:pt x="3318516" y="874881"/>
                </a:lnTo>
                <a:lnTo>
                  <a:pt x="0" y="8748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53158" y="2203618"/>
            <a:ext cx="16664838" cy="1041063"/>
            <a:chOff x="0" y="0"/>
            <a:chExt cx="4389093" cy="2741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89093" cy="274190"/>
            </a:xfrm>
            <a:custGeom>
              <a:avLst/>
              <a:gdLst/>
              <a:ahLst/>
              <a:cxnLst/>
              <a:rect r="r" b="b" t="t" l="l"/>
              <a:pathLst>
                <a:path h="274190" w="4389093">
                  <a:moveTo>
                    <a:pt x="13472" y="0"/>
                  </a:moveTo>
                  <a:lnTo>
                    <a:pt x="4375621" y="0"/>
                  </a:lnTo>
                  <a:cubicBezTo>
                    <a:pt x="4379194" y="0"/>
                    <a:pt x="4382621" y="1419"/>
                    <a:pt x="4385147" y="3946"/>
                  </a:cubicBezTo>
                  <a:cubicBezTo>
                    <a:pt x="4387674" y="6473"/>
                    <a:pt x="4389093" y="9899"/>
                    <a:pt x="4389093" y="13472"/>
                  </a:cubicBezTo>
                  <a:lnTo>
                    <a:pt x="4389093" y="260717"/>
                  </a:lnTo>
                  <a:cubicBezTo>
                    <a:pt x="4389093" y="264290"/>
                    <a:pt x="4387674" y="267717"/>
                    <a:pt x="4385147" y="270244"/>
                  </a:cubicBezTo>
                  <a:cubicBezTo>
                    <a:pt x="4382621" y="272770"/>
                    <a:pt x="4379194" y="274190"/>
                    <a:pt x="4375621" y="274190"/>
                  </a:cubicBezTo>
                  <a:lnTo>
                    <a:pt x="13472" y="274190"/>
                  </a:lnTo>
                  <a:cubicBezTo>
                    <a:pt x="9899" y="274190"/>
                    <a:pt x="6473" y="272770"/>
                    <a:pt x="3946" y="270244"/>
                  </a:cubicBezTo>
                  <a:cubicBezTo>
                    <a:pt x="1419" y="267717"/>
                    <a:pt x="0" y="264290"/>
                    <a:pt x="0" y="260717"/>
                  </a:cubicBezTo>
                  <a:lnTo>
                    <a:pt x="0" y="13472"/>
                  </a:lnTo>
                  <a:cubicBezTo>
                    <a:pt x="0" y="9899"/>
                    <a:pt x="1419" y="6473"/>
                    <a:pt x="3946" y="3946"/>
                  </a:cubicBezTo>
                  <a:cubicBezTo>
                    <a:pt x="6473" y="1419"/>
                    <a:pt x="9899" y="0"/>
                    <a:pt x="134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389093" cy="312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23557" indent="-261778" lvl="1">
                <a:lnSpc>
                  <a:spcPts val="3394"/>
                </a:lnSpc>
                <a:buFont typeface="Arial"/>
                <a:buChar char="•"/>
              </a:pPr>
              <a:r>
                <a:rPr lang="en-US" b="true" sz="2424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Testing &amp; Validation</a:t>
              </a:r>
              <a:r>
                <a:rPr lang="en-US" sz="242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– Conducted student testing among 7-10 peers to validate functionality, usability, and performance improvements.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733782" y="9415974"/>
            <a:ext cx="5255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5029456"/>
            <a:ext cx="7171118" cy="3612813"/>
            <a:chOff x="0" y="0"/>
            <a:chExt cx="1888689" cy="9515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88689" cy="951523"/>
            </a:xfrm>
            <a:custGeom>
              <a:avLst/>
              <a:gdLst/>
              <a:ahLst/>
              <a:cxnLst/>
              <a:rect r="r" b="b" t="t" l="l"/>
              <a:pathLst>
                <a:path h="951523" w="1888689">
                  <a:moveTo>
                    <a:pt x="31308" y="0"/>
                  </a:moveTo>
                  <a:lnTo>
                    <a:pt x="1857381" y="0"/>
                  </a:lnTo>
                  <a:cubicBezTo>
                    <a:pt x="1865685" y="0"/>
                    <a:pt x="1873648" y="3299"/>
                    <a:pt x="1879519" y="9170"/>
                  </a:cubicBezTo>
                  <a:cubicBezTo>
                    <a:pt x="1885391" y="15041"/>
                    <a:pt x="1888689" y="23005"/>
                    <a:pt x="1888689" y="31308"/>
                  </a:cubicBezTo>
                  <a:lnTo>
                    <a:pt x="1888689" y="920214"/>
                  </a:lnTo>
                  <a:cubicBezTo>
                    <a:pt x="1888689" y="928518"/>
                    <a:pt x="1885391" y="936481"/>
                    <a:pt x="1879519" y="942353"/>
                  </a:cubicBezTo>
                  <a:cubicBezTo>
                    <a:pt x="1873648" y="948224"/>
                    <a:pt x="1865685" y="951523"/>
                    <a:pt x="1857381" y="951523"/>
                  </a:cubicBezTo>
                  <a:lnTo>
                    <a:pt x="31308" y="951523"/>
                  </a:lnTo>
                  <a:cubicBezTo>
                    <a:pt x="23005" y="951523"/>
                    <a:pt x="15041" y="948224"/>
                    <a:pt x="9170" y="942353"/>
                  </a:cubicBezTo>
                  <a:cubicBezTo>
                    <a:pt x="3299" y="936481"/>
                    <a:pt x="0" y="928518"/>
                    <a:pt x="0" y="920214"/>
                  </a:cubicBezTo>
                  <a:lnTo>
                    <a:pt x="0" y="31308"/>
                  </a:lnTo>
                  <a:cubicBezTo>
                    <a:pt x="0" y="23005"/>
                    <a:pt x="3299" y="15041"/>
                    <a:pt x="9170" y="9170"/>
                  </a:cubicBezTo>
                  <a:cubicBezTo>
                    <a:pt x="15041" y="3299"/>
                    <a:pt x="23005" y="0"/>
                    <a:pt x="313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88689" cy="989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23557" indent="-261778" lvl="1">
                <a:lnSpc>
                  <a:spcPts val="3394"/>
                </a:lnSpc>
                <a:buFont typeface="Arial"/>
                <a:buChar char="•"/>
              </a:pPr>
              <a:r>
                <a:rPr lang="en-US" b="true" sz="2424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Backend Development: </a:t>
              </a:r>
              <a:r>
                <a:rPr lang="en-US" sz="242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Enhanced backend logic to support multi-program and multi-semester workflows, updated allocation execution for simultaneous checkbox-based runs, and improved data handling for form editing, preference updates, and consistency.</a:t>
              </a:r>
            </a:p>
            <a:p>
              <a:pPr algn="l" marL="523557" indent="-261778" lvl="1">
                <a:lnSpc>
                  <a:spcPts val="3394"/>
                </a:lnSpc>
                <a:buFont typeface="Arial"/>
                <a:buChar char="•"/>
              </a:pPr>
              <a:r>
                <a:rPr lang="en-US" b="true" sz="2424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Deployment</a:t>
              </a:r>
              <a:r>
                <a:rPr lang="en-US" sz="242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– Deployed the system on the institute’s server.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71093" y="5010406"/>
            <a:ext cx="7334973" cy="3612813"/>
            <a:chOff x="0" y="0"/>
            <a:chExt cx="1931845" cy="9515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845" cy="951523"/>
            </a:xfrm>
            <a:custGeom>
              <a:avLst/>
              <a:gdLst/>
              <a:ahLst/>
              <a:cxnLst/>
              <a:rect r="r" b="b" t="t" l="l"/>
              <a:pathLst>
                <a:path h="951523" w="1931845">
                  <a:moveTo>
                    <a:pt x="30609" y="0"/>
                  </a:moveTo>
                  <a:lnTo>
                    <a:pt x="1901236" y="0"/>
                  </a:lnTo>
                  <a:cubicBezTo>
                    <a:pt x="1918141" y="0"/>
                    <a:pt x="1931845" y="13704"/>
                    <a:pt x="1931845" y="30609"/>
                  </a:cubicBezTo>
                  <a:lnTo>
                    <a:pt x="1931845" y="920914"/>
                  </a:lnTo>
                  <a:cubicBezTo>
                    <a:pt x="1931845" y="937819"/>
                    <a:pt x="1918141" y="951523"/>
                    <a:pt x="1901236" y="951523"/>
                  </a:cubicBezTo>
                  <a:lnTo>
                    <a:pt x="30609" y="951523"/>
                  </a:lnTo>
                  <a:cubicBezTo>
                    <a:pt x="13704" y="951523"/>
                    <a:pt x="0" y="937819"/>
                    <a:pt x="0" y="920914"/>
                  </a:cubicBezTo>
                  <a:lnTo>
                    <a:pt x="0" y="30609"/>
                  </a:lnTo>
                  <a:cubicBezTo>
                    <a:pt x="0" y="13704"/>
                    <a:pt x="13704" y="0"/>
                    <a:pt x="3060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845" cy="989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23557" indent="-261778" lvl="1">
                <a:lnSpc>
                  <a:spcPts val="3394"/>
                </a:lnSpc>
                <a:buFont typeface="Arial"/>
                <a:buChar char="•"/>
              </a:pPr>
              <a:r>
                <a:rPr lang="en-US" b="true" sz="2424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Refined Student Dashboard and Admin: </a:t>
              </a:r>
              <a:r>
                <a:rPr lang="en-US" sz="242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Pages with dynamic phase-aware UI, responsive multi-program/semester tables, persistent error feedback, modularized JavaScript, and replaced Tailwind CDN with a local minified build.</a:t>
              </a:r>
            </a:p>
            <a:p>
              <a:pPr algn="l" marL="523557" indent="-261778" lvl="1">
                <a:lnSpc>
                  <a:spcPts val="3394"/>
                </a:lnSpc>
                <a:buFont typeface="Arial"/>
                <a:buChar char="•"/>
              </a:pPr>
              <a:r>
                <a:rPr lang="en-US" b="true" sz="2424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Accessibility &amp; UX</a:t>
              </a:r>
              <a:r>
                <a:rPr lang="en-US" sz="242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– Ensured smooth interaction and cross-device usability.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1527343"/>
            <a:ext cx="574272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Group Contribution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67987" y="4349582"/>
            <a:ext cx="409254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Parth’s Contribution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56370" y="4330532"/>
            <a:ext cx="47644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Hitanshu’s Contribution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882270" y="1033462"/>
            <a:ext cx="14952524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8700" y="9671857"/>
            <a:ext cx="15292849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200547" y="1028700"/>
            <a:ext cx="12785544" cy="9253538"/>
          </a:xfrm>
          <a:custGeom>
            <a:avLst/>
            <a:gdLst/>
            <a:ahLst/>
            <a:cxnLst/>
            <a:rect r="r" b="b" t="t" l="l"/>
            <a:pathLst>
              <a:path h="9253538" w="12785544">
                <a:moveTo>
                  <a:pt x="0" y="0"/>
                </a:moveTo>
                <a:lnTo>
                  <a:pt x="12785544" y="0"/>
                </a:lnTo>
                <a:lnTo>
                  <a:pt x="12785544" y="9253538"/>
                </a:lnTo>
                <a:lnTo>
                  <a:pt x="0" y="9253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05571" y="1248371"/>
            <a:ext cx="6375497" cy="85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5"/>
              </a:lnSpc>
            </a:pPr>
            <a:r>
              <a:rPr lang="en-US" sz="5004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Learning Outcomes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3782" y="9386107"/>
            <a:ext cx="5255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882270" y="1033462"/>
            <a:ext cx="14952524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8700" y="9671857"/>
            <a:ext cx="15292849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404197" y="-2345285"/>
            <a:ext cx="9242341" cy="13692357"/>
          </a:xfrm>
          <a:custGeom>
            <a:avLst/>
            <a:gdLst/>
            <a:ahLst/>
            <a:cxnLst/>
            <a:rect r="r" b="b" t="t" l="l"/>
            <a:pathLst>
              <a:path h="13692357" w="9242341">
                <a:moveTo>
                  <a:pt x="0" y="0"/>
                </a:moveTo>
                <a:lnTo>
                  <a:pt x="9242341" y="0"/>
                </a:lnTo>
                <a:lnTo>
                  <a:pt x="9242341" y="13692357"/>
                </a:lnTo>
                <a:lnTo>
                  <a:pt x="0" y="13692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490329"/>
            <a:ext cx="6375497" cy="85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5"/>
              </a:lnSpc>
            </a:pPr>
            <a:r>
              <a:rPr lang="en-US" sz="5004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Future 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33782" y="9386107"/>
            <a:ext cx="52551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777" r="0" b="-38777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1023938"/>
            <a:ext cx="16230600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323975" y="9253538"/>
            <a:ext cx="15292849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578957" y="3862373"/>
            <a:ext cx="13130086" cy="3356229"/>
            <a:chOff x="0" y="0"/>
            <a:chExt cx="17506782" cy="447497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734138"/>
              <a:ext cx="17506782" cy="740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57200"/>
              <a:ext cx="17506782" cy="3695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199"/>
                </a:lnSpc>
                <a:spcBef>
                  <a:spcPct val="0"/>
                </a:spcBef>
              </a:pPr>
              <a:r>
                <a:rPr lang="en-US" b="true" sz="15999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Thank you!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198685" y="6932852"/>
            <a:ext cx="789062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Deployed Link: </a:t>
            </a:r>
            <a:r>
              <a:rPr lang="en-US" b="true" sz="3000" u="sng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  <a:hlinkClick r:id="rId3" tooltip="http://ers.daiict.ac.in:8090"/>
              </a:rPr>
              <a:t>http://ers.daiict.ac.in:8090</a:t>
            </a:r>
            <a:r>
              <a:rPr lang="en-US" b="true" sz="30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DAGuDeNxywY</dc:identifier>
  <dcterms:modified xsi:type="dcterms:W3CDTF">2011-08-01T06:04:30Z</dcterms:modified>
  <cp:revision>1</cp:revision>
  <dc:title>SRI DEEP Presentation</dc:title>
</cp:coreProperties>
</file>